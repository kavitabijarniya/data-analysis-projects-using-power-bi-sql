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A0D-4F45-84FE-3A3FBFFC0C0A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A0D-4F45-84FE-3A3FBFFC0C0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A0D-4F45-84FE-3A3FBFFC0C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C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55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C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3D4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F10-4735-BDF0-E866FED04CB4}"/>
              </c:ext>
            </c:extLst>
          </c:dPt>
          <c:dPt>
            <c:idx val="1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F10-4735-BDF0-E866FED04CB4}"/>
              </c:ext>
            </c:extLst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F10-4735-BDF0-E866FED04CB4}"/>
              </c:ext>
            </c:extLst>
          </c:dPt>
          <c:dPt>
            <c:idx val="3"/>
            <c:invertIfNegative val="0"/>
            <c:bubble3D val="0"/>
            <c:spPr>
              <a:solidFill>
                <a:srgbClr val="E070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F10-4735-BDF0-E866FED04CB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Young Adult</c:v>
                </c:pt>
                <c:pt idx="1">
                  <c:v>Middle-aged</c:v>
                </c:pt>
                <c:pt idx="2">
                  <c:v>Adult</c:v>
                </c:pt>
                <c:pt idx="3">
                  <c:v>Senior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F10-4735-BDF0-E866FED04C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C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55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C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3D4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D71-4D44-B6E2-5AF048503C97}"/>
              </c:ext>
            </c:extLst>
          </c:dPt>
          <c:dPt>
            <c:idx val="1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D71-4D44-B6E2-5AF048503C97}"/>
              </c:ext>
            </c:extLst>
          </c:dPt>
          <c:dPt>
            <c:idx val="2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D71-4D44-B6E2-5AF048503C9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D71-4D44-B6E2-5AF048503C9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D71-4D44-B6E2-5AF048503C9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71-4D44-B6E2-5AF048503C9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Loyal</c:v>
                </c:pt>
                <c:pt idx="1">
                  <c:v>Returning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D71-4D44-B6E2-5AF048503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2C3E5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5FBF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432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-365760"/>
            <a:ext cx="4389120" cy="5943600"/>
          </a:xfrm>
          <a:prstGeom prst="rect">
            <a:avLst/>
          </a:prstGeom>
          <a:solidFill>
            <a:srgbClr val="026E82">
              <a:alpha val="30000"/>
            </a:srgbClr>
          </a:solidFill>
          <a:ln w="12700">
            <a:solidFill>
              <a:srgbClr val="026E8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2926080" cy="29260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914400"/>
            <a:ext cx="2011680" cy="201168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Shopping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 Analysis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45720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432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insights from 3,900 customer transactions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multiple product categories, geographies, and demographics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2011680" cy="868680"/>
          </a:xfrm>
          <a:prstGeom prst="rect">
            <a:avLst/>
          </a:prstGeom>
          <a:solidFill>
            <a:srgbClr val="026E82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9502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3,900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4315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3931920"/>
            <a:ext cx="2011680" cy="868680"/>
          </a:xfrm>
          <a:prstGeom prst="rect">
            <a:avLst/>
          </a:prstGeom>
          <a:solidFill>
            <a:srgbClr val="026E82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39502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$59.76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743200" y="4315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3931920"/>
            <a:ext cx="2011680" cy="868680"/>
          </a:xfrm>
          <a:prstGeom prst="rect">
            <a:avLst/>
          </a:prstGeom>
          <a:solidFill>
            <a:srgbClr val="026E82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39502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3.75★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0" y="4315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 ·  Python  ·  SQL  · 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D3A"/>
          </a:solidFill>
          <a:ln w="12700">
            <a:solidFill>
              <a:srgbClr val="0B2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651760" cy="2377440"/>
          </a:xfrm>
          <a:prstGeom prst="rect">
            <a:avLst/>
          </a:prstGeom>
          <a:solidFill>
            <a:srgbClr val="0B2D3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1389888"/>
            <a:ext cx="896112" cy="8961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389888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purchase transactions with 18 features covering demographics, purchase details, and shopping behavior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651760" cy="2377440"/>
          </a:xfrm>
          <a:prstGeom prst="rect">
            <a:avLst/>
          </a:prstGeom>
          <a:solidFill>
            <a:srgbClr val="0B2D3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0" y="1389888"/>
            <a:ext cx="896112" cy="8961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1389888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3756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in Python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788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missing value imputation, feature engineering (age groups, purchase frequency), and database loading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280160"/>
            <a:ext cx="2651760" cy="2377440"/>
          </a:xfrm>
          <a:prstGeom prst="rect">
            <a:avLst/>
          </a:prstGeom>
          <a:solidFill>
            <a:srgbClr val="0B2D3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1389888"/>
            <a:ext cx="896112" cy="8961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1389888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6364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Analysis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788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structured business queries in MS SQL Server answering revenue, segmentation, product, and behavior questions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840480"/>
            <a:ext cx="8503920" cy="868680"/>
          </a:xfrm>
          <a:prstGeom prst="rect">
            <a:avLst/>
          </a:prstGeom>
          <a:solidFill>
            <a:srgbClr val="2EC4B6">
              <a:alpha val="20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Uncover actionable insights into spending patterns, customer segments, product preferences, and subscription behavior to guide strategic business decisions.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1234440"/>
          </a:xfrm>
          <a:prstGeom prst="rect">
            <a:avLst/>
          </a:prstGeom>
          <a:solidFill>
            <a:srgbClr val="0F3D4F"/>
          </a:solidFill>
          <a:ln w="25400">
            <a:solidFill>
              <a:srgbClr val="00B4D8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789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3,900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1005840"/>
            <a:ext cx="1920240" cy="1234440"/>
          </a:xfrm>
          <a:prstGeom prst="rect">
            <a:avLst/>
          </a:prstGeom>
          <a:solidFill>
            <a:srgbClr val="0F3D4F"/>
          </a:solidFill>
          <a:ln w="25400">
            <a:solidFill>
              <a:srgbClr val="F4A261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789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23160" y="1664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20240" cy="1234440"/>
          </a:xfrm>
          <a:prstGeom prst="rect">
            <a:avLst/>
          </a:prstGeom>
          <a:solidFill>
            <a:srgbClr val="0F3D4F"/>
          </a:solidFill>
          <a:ln w="25400">
            <a:solidFill>
              <a:srgbClr val="E07070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789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70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0" y="1664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Ratings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1005840"/>
            <a:ext cx="1920240" cy="1234440"/>
          </a:xfrm>
          <a:prstGeom prst="rect">
            <a:avLst/>
          </a:prstGeom>
          <a:solidFill>
            <a:srgbClr val="0F3D4F"/>
          </a:solidFill>
          <a:ln w="25400">
            <a:solidFill>
              <a:srgbClr val="2EC4B6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0789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720840" y="1664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423160"/>
            <a:ext cx="4114800" cy="1097280"/>
          </a:xfrm>
          <a:prstGeom prst="rect">
            <a:avLst/>
          </a:prstGeom>
          <a:solidFill>
            <a:srgbClr val="0F3D4F"/>
          </a:solidFill>
          <a:ln w="12700">
            <a:solidFill>
              <a:srgbClr val="026E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423160"/>
            <a:ext cx="82296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468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Demographics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" y="27706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 ·  Gender  ·  Location  ·  Subscription Status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423160"/>
            <a:ext cx="4114800" cy="1097280"/>
          </a:xfrm>
          <a:prstGeom prst="rect">
            <a:avLst/>
          </a:prstGeom>
          <a:solidFill>
            <a:srgbClr val="0F3D4F"/>
          </a:solidFill>
          <a:ln w="12700">
            <a:solidFill>
              <a:srgbClr val="026E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423160"/>
            <a:ext cx="82296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2468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Purchase Details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65192" y="27706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Item, Category, Amount  ·  Season, Size, Color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703320"/>
            <a:ext cx="4114800" cy="1097280"/>
          </a:xfrm>
          <a:prstGeom prst="rect">
            <a:avLst/>
          </a:prstGeom>
          <a:solidFill>
            <a:srgbClr val="0F3D4F"/>
          </a:solidFill>
          <a:ln w="12700">
            <a:solidFill>
              <a:srgbClr val="026E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703320"/>
            <a:ext cx="82296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Shopping Behavior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" y="40507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/ Promo Code  ·  Review Rating  ·  Shipping Type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703320"/>
            <a:ext cx="4114800" cy="1097280"/>
          </a:xfrm>
          <a:prstGeom prst="rect">
            <a:avLst/>
          </a:prstGeom>
          <a:solidFill>
            <a:srgbClr val="0F3D4F"/>
          </a:solidFill>
          <a:ln w="12700">
            <a:solidFill>
              <a:srgbClr val="026E8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703320"/>
            <a:ext cx="82296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Engineered Features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65192" y="40507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(binned)  ·  Purchase Frequency (days)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D3A"/>
          </a:solidFill>
          <a:ln w="12700">
            <a:solidFill>
              <a:srgbClr val="0B2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&amp; Data Preparation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44752"/>
            <a:ext cx="502920" cy="502920"/>
          </a:xfrm>
          <a:prstGeom prst="ellipse">
            <a:avLst/>
          </a:prstGeom>
          <a:solidFill>
            <a:srgbClr val="0B2D3A"/>
          </a:solidFill>
          <a:ln w="12700">
            <a:solidFill>
              <a:srgbClr val="0B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44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2618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Loading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5544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dataset using pandas. Checked structure with df.info() and summary statistics via .describe().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444752"/>
            <a:ext cx="502920" cy="502920"/>
          </a:xfrm>
          <a:prstGeom prst="ellipse">
            <a:avLst/>
          </a:prstGeom>
          <a:solidFill>
            <a:srgbClr val="0B2D3A"/>
          </a:solidFill>
          <a:ln w="12700">
            <a:solidFill>
              <a:srgbClr val="0B2D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44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2618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Data Handling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5544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null values in Review Rating imputed using the median rating per product category.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4231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79192"/>
            <a:ext cx="502920" cy="502920"/>
          </a:xfrm>
          <a:prstGeom prst="ellipse">
            <a:avLst/>
          </a:prstGeom>
          <a:solidFill>
            <a:srgbClr val="0B2D3A"/>
          </a:solidFill>
          <a:ln w="12700">
            <a:solidFill>
              <a:srgbClr val="0B2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9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4963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 Standardization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7889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columns renamed to snake_case for consistency and better documentation.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4231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679192"/>
            <a:ext cx="502920" cy="502920"/>
          </a:xfrm>
          <a:prstGeom prst="ellipse">
            <a:avLst/>
          </a:prstGeom>
          <a:solidFill>
            <a:srgbClr val="0B2D3A"/>
          </a:solidFill>
          <a:ln w="12700">
            <a:solidFill>
              <a:srgbClr val="0B2D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679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24963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27889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age_group via age binning and purchase_frequency_days from transaction history.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913632"/>
            <a:ext cx="502920" cy="502920"/>
          </a:xfrm>
          <a:prstGeom prst="ellipse">
            <a:avLst/>
          </a:prstGeom>
          <a:solidFill>
            <a:srgbClr val="0B2D3A"/>
          </a:solidFill>
          <a:ln w="12700">
            <a:solidFill>
              <a:srgbClr val="0B2D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13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730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Consistency Check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0233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discount_applied and promo_code_used were redundant; dropped promo_code_used.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6576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913632"/>
            <a:ext cx="502920" cy="502920"/>
          </a:xfrm>
          <a:prstGeom prst="ellipse">
            <a:avLst/>
          </a:prstGeom>
          <a:solidFill>
            <a:srgbClr val="0B2D3A"/>
          </a:solidFill>
          <a:ln w="12700">
            <a:solidFill>
              <a:srgbClr val="0B2D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913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3730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Integration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40233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Python script to MS SQL Server and loaded the cleaned DataFrame for SQL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Analysis  –  Revenue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26E82"/>
          </a:solidFill>
          <a:ln w="12700">
            <a:solidFill>
              <a:srgbClr val="026E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by Gender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234440"/>
          <a:ext cx="42062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by Age Group</a:t>
            </a:r>
            <a:endParaRPr lang="en-US" sz="14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526280" y="1234440"/>
          <a:ext cx="42976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320040" y="3657600"/>
            <a:ext cx="2560320" cy="1097280"/>
          </a:xfrm>
          <a:prstGeom prst="rect">
            <a:avLst/>
          </a:prstGeom>
          <a:solidFill>
            <a:srgbClr val="0F3D4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37307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2.1×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11480" y="41330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revenue than female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154680" y="3657600"/>
            <a:ext cx="2560320" cy="1097280"/>
          </a:xfrm>
          <a:prstGeom prst="rect">
            <a:avLst/>
          </a:prstGeom>
          <a:solidFill>
            <a:srgbClr val="0F3D4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154680" y="37307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$62.1K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246120" y="41330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contributor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89320" y="3657600"/>
            <a:ext cx="2560320" cy="1097280"/>
          </a:xfrm>
          <a:prstGeom prst="rect">
            <a:avLst/>
          </a:prstGeom>
          <a:solidFill>
            <a:srgbClr val="0F3D4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89320" y="37307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discounts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080760" y="41330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 customers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spent above average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D3A"/>
          </a:solidFill>
          <a:ln w="12700">
            <a:solidFill>
              <a:srgbClr val="0B2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Analysis  –  Customer &amp; Product Insights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Segmentation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46304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70916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5 Products by Rating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1508760"/>
            <a:ext cx="4114800" cy="384048"/>
          </a:xfrm>
          <a:prstGeom prst="rect">
            <a:avLst/>
          </a:prstGeom>
          <a:solidFill>
            <a:srgbClr val="0B2D3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1554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Gloves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178040" y="15544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3.86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1965960"/>
            <a:ext cx="4114800" cy="384048"/>
          </a:xfrm>
          <a:prstGeom prst="rect">
            <a:avLst/>
          </a:prstGeom>
          <a:solidFill>
            <a:srgbClr val="E8F4FB"/>
          </a:solidFill>
          <a:ln w="12700">
            <a:solidFill>
              <a:srgbClr val="CCE5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20116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Sandals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78040" y="20116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3.84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09160" y="2423160"/>
            <a:ext cx="4114800" cy="384048"/>
          </a:xfrm>
          <a:prstGeom prst="rect">
            <a:avLst/>
          </a:prstGeom>
          <a:solidFill>
            <a:srgbClr val="E8F4FB"/>
          </a:solidFill>
          <a:ln w="12700">
            <a:solidFill>
              <a:srgbClr val="CCE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24688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Boots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178040" y="24688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3.82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09160" y="2880360"/>
            <a:ext cx="4114800" cy="384048"/>
          </a:xfrm>
          <a:prstGeom prst="rect">
            <a:avLst/>
          </a:prstGeom>
          <a:solidFill>
            <a:srgbClr val="E8F4FB"/>
          </a:solidFill>
          <a:ln w="12700">
            <a:solidFill>
              <a:srgbClr val="CCE5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00600" y="29260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Hat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178040" y="2926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3.8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3337560"/>
            <a:ext cx="4114800" cy="384048"/>
          </a:xfrm>
          <a:prstGeom prst="rect">
            <a:avLst/>
          </a:prstGeom>
          <a:solidFill>
            <a:srgbClr val="E8F4FB"/>
          </a:solidFill>
          <a:ln w="12700">
            <a:solidFill>
              <a:srgbClr val="CCE5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0600" y="33832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Skirt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178040" y="33832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3.78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20040" y="39319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Discount-Dependent Products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20040" y="4251960"/>
            <a:ext cx="1600200" cy="594360"/>
          </a:xfrm>
          <a:prstGeom prst="rect">
            <a:avLst/>
          </a:prstGeom>
          <a:solidFill>
            <a:srgbClr val="0B2D3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" y="4279392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(50%)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039112" y="4251960"/>
            <a:ext cx="1600200" cy="594360"/>
          </a:xfrm>
          <a:prstGeom prst="rect">
            <a:avLst/>
          </a:prstGeom>
          <a:solidFill>
            <a:srgbClr val="0B2D3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039112" y="4279392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 (49.7%)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758184" y="4251960"/>
            <a:ext cx="1600200" cy="594360"/>
          </a:xfrm>
          <a:prstGeom prst="rect">
            <a:avLst/>
          </a:prstGeom>
          <a:solidFill>
            <a:srgbClr val="0B2D3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758184" y="4279392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 (49.1%)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477256" y="4251960"/>
            <a:ext cx="1600200" cy="594360"/>
          </a:xfrm>
          <a:prstGeom prst="rect">
            <a:avLst/>
          </a:prstGeom>
          <a:solidFill>
            <a:srgbClr val="0B2D3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77256" y="4279392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Sweater (48.2%)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196328" y="4251960"/>
            <a:ext cx="1600200" cy="594360"/>
          </a:xfrm>
          <a:prstGeom prst="rect">
            <a:avLst/>
          </a:prstGeom>
          <a:solidFill>
            <a:srgbClr val="0B2D3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96328" y="4279392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 (47.4%)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Power BI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4160520"/>
          </a:xfrm>
          <a:prstGeom prst="rect">
            <a:avLst/>
          </a:prstGeom>
          <a:solidFill>
            <a:srgbClr val="0F3D4F"/>
          </a:solidFill>
          <a:ln w="25400">
            <a:solidFill>
              <a:srgbClr val="00B4D8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841248"/>
            <a:ext cx="83210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691640"/>
          </a:xfrm>
          <a:prstGeom prst="rect">
            <a:avLst/>
          </a:prstGeom>
          <a:solidFill>
            <a:srgbClr val="0F3D4F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97840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78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D3A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9601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Boost Subscriptions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4416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27% subscribe. Promote exclusive perks, early access, and loyalty rewards to convert the 73% non-subscribers.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1691640"/>
          </a:xfrm>
          <a:prstGeom prst="rect">
            <a:avLst/>
          </a:prstGeom>
          <a:solidFill>
            <a:srgbClr val="0F3D4F"/>
          </a:solidFill>
          <a:ln w="19050">
            <a:solidFill>
              <a:srgbClr val="F4A261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978408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978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D3A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9601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Loyalty Programs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34416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are already Loyal customers. Reward repeat buyers with tiered programs to deepen engagement and prevent churn.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114800" cy="1691640"/>
          </a:xfrm>
          <a:prstGeom prst="rect">
            <a:avLst/>
          </a:prstGeom>
          <a:solidFill>
            <a:srgbClr val="0F3D4F"/>
          </a:solidFill>
          <a:ln w="19050">
            <a:solidFill>
              <a:srgbClr val="2EC4B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944368"/>
            <a:ext cx="502920" cy="5029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944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D3A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9260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Discount Policy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31012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like Hat (50%) and Sneakers (49.7%) have very high discount rates. Balance promotions with margin health.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114800" cy="1691640"/>
          </a:xfrm>
          <a:prstGeom prst="rect">
            <a:avLst/>
          </a:prstGeom>
          <a:solidFill>
            <a:srgbClr val="0F3D4F"/>
          </a:solidFill>
          <a:ln w="19050">
            <a:solidFill>
              <a:srgbClr val="D4A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2944368"/>
            <a:ext cx="502920" cy="502920"/>
          </a:xfrm>
          <a:prstGeom prst="ellipse">
            <a:avLst/>
          </a:prstGeom>
          <a:solidFill>
            <a:srgbClr val="D4A5E0"/>
          </a:solidFill>
          <a:ln w="12700">
            <a:solidFill>
              <a:srgbClr val="D4A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944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D3A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29260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Positioning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31012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Gloves, Sandals, and Boots lead in ratings. Feature these prominently in campaigns and homepage placements.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0" y="4800600"/>
            <a:ext cx="4572000" cy="1508760"/>
          </a:xfrm>
          <a:prstGeom prst="rect">
            <a:avLst/>
          </a:prstGeom>
          <a:solidFill>
            <a:srgbClr val="0F3D4F"/>
          </a:solidFill>
          <a:ln w="19050">
            <a:solidFill>
              <a:srgbClr val="F9C74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395728" y="4910328"/>
            <a:ext cx="502920" cy="50292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95728" y="4910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D3A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0" y="4892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C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Targeted Marketing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23160" y="525780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generate the most revenue ($62.1K). Focus digital campaigns and express-shipping upsells on this segment.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6400800" cy="6400800"/>
          </a:xfrm>
          <a:prstGeom prst="ellipse">
            <a:avLst/>
          </a:prstGeom>
          <a:solidFill>
            <a:srgbClr val="026E82">
              <a:alpha val="25000"/>
            </a:srgbClr>
          </a:solidFill>
          <a:ln w="12700">
            <a:solidFill>
              <a:srgbClr val="026E8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22860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182880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057400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2029968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drive 2× the revenue of female customers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2578608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551176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are the #1 revenue segment at $62,143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3099816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3072384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customers are already Loyal — focus on retention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3621024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3593592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is the highest-revenue season at $60.02K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414223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411480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leads all categories with $104.3K in revenue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7548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602</Words>
  <Application>Microsoft Office PowerPoint</Application>
  <PresentationFormat>On-screen Show (16:9)</PresentationFormat>
  <Paragraphs>125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PptxGenJS</dc:creator>
  <cp:lastModifiedBy>Kavita Bijarniya</cp:lastModifiedBy>
  <cp:revision>2</cp:revision>
  <dcterms:created xsi:type="dcterms:W3CDTF">2026-04-23T04:30:11Z</dcterms:created>
  <dcterms:modified xsi:type="dcterms:W3CDTF">2026-04-23T04:47:40Z</dcterms:modified>
</cp:coreProperties>
</file>